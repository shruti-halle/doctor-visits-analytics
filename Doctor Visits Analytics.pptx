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Be Vietnam Pr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68">
          <p15:clr>
            <a:srgbClr val="A4A3A4"/>
          </p15:clr>
        </p15:guide>
        <p15:guide id="2" pos="408">
          <p15:clr>
            <a:srgbClr val="A4A3A4"/>
          </p15:clr>
        </p15:guide>
        <p15:guide id="3" orient="horz" pos="3912">
          <p15:clr>
            <a:srgbClr val="A4A3A4"/>
          </p15:clr>
        </p15:guide>
        <p15:guide id="4" pos="7272">
          <p15:clr>
            <a:srgbClr val="A4A3A4"/>
          </p15:clr>
        </p15:guide>
        <p15:guide id="5" orient="horz" pos="1656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TeYOVHwpmGswThZhru5OrrsJk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68" orient="horz"/>
        <p:guide pos="408"/>
        <p:guide pos="3912" orient="horz"/>
        <p:guide pos="7272"/>
        <p:guide pos="165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VietnamPro-bold.fntdata"/><Relationship Id="rId11" Type="http://schemas.openxmlformats.org/officeDocument/2006/relationships/slide" Target="slides/slide6.xml"/><Relationship Id="rId22" Type="http://schemas.openxmlformats.org/officeDocument/2006/relationships/font" Target="fonts/BeVietnamPro-boldItalic.fntdata"/><Relationship Id="rId10" Type="http://schemas.openxmlformats.org/officeDocument/2006/relationships/slide" Target="slides/slide5.xml"/><Relationship Id="rId21" Type="http://schemas.openxmlformats.org/officeDocument/2006/relationships/font" Target="fonts/BeVietnamPr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BeVietnamPr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1" name="Google Shape;31;p16"/>
          <p:cNvSpPr/>
          <p:nvPr/>
        </p:nvSpPr>
        <p:spPr>
          <a:xfrm>
            <a:off x="740309" y="1382809"/>
            <a:ext cx="1229566" cy="1059971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" name="Google Shape;32;p16"/>
          <p:cNvSpPr/>
          <p:nvPr/>
        </p:nvSpPr>
        <p:spPr>
          <a:xfrm>
            <a:off x="3755031" y="1194620"/>
            <a:ext cx="1666162" cy="1436347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" name="Google Shape;33;p16"/>
          <p:cNvSpPr/>
          <p:nvPr/>
        </p:nvSpPr>
        <p:spPr>
          <a:xfrm>
            <a:off x="3804994" y="5233183"/>
            <a:ext cx="718261" cy="619191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" name="Google Shape;34;p16"/>
          <p:cNvSpPr/>
          <p:nvPr/>
        </p:nvSpPr>
        <p:spPr>
          <a:xfrm>
            <a:off x="1837838" y="1101306"/>
            <a:ext cx="651613" cy="561736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" name="Google Shape;35;p16"/>
          <p:cNvSpPr/>
          <p:nvPr>
            <p:ph idx="2" type="pic"/>
          </p:nvPr>
        </p:nvSpPr>
        <p:spPr>
          <a:xfrm>
            <a:off x="1571515" y="1914044"/>
            <a:ext cx="3993624" cy="3617848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6"/>
          <p:cNvSpPr txBox="1"/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  <a:defRPr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2pPr>
            <a:lvl3pPr indent="-30988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3pPr>
            <a:lvl4pPr indent="-30988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4pPr>
            <a:lvl5pPr indent="-30988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80"/>
              <a:buFont typeface="Noto Sans Symbols"/>
              <a:buChar char="▪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9" name="Google Shape;39;p17"/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" name="Google Shape;40;p17"/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2" name="Google Shape;42;p17"/>
          <p:cNvSpPr/>
          <p:nvPr>
            <p:ph idx="2" type="pic"/>
          </p:nvPr>
        </p:nvSpPr>
        <p:spPr>
          <a:xfrm>
            <a:off x="7090227" y="786181"/>
            <a:ext cx="4441372" cy="5393036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7"/>
          <p:cNvSpPr txBox="1"/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" name="Google Shape;46;p18"/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" name="Google Shape;47;p18"/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accent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" name="Google Shape;48;p18"/>
          <p:cNvSpPr/>
          <p:nvPr>
            <p:ph idx="2" type="pic"/>
          </p:nvPr>
        </p:nvSpPr>
        <p:spPr>
          <a:xfrm>
            <a:off x="5733416" y="624239"/>
            <a:ext cx="5855754" cy="5631571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8"/>
          <p:cNvSpPr txBox="1"/>
          <p:nvPr>
            <p:ph idx="1" type="body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1pPr>
            <a:lvl2pPr indent="-330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▪"/>
              <a:defRPr sz="2000"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440"/>
              <a:buFont typeface="Noto Sans Symbols"/>
              <a:buChar char="▪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  <a:defRPr b="1" sz="4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/>
          <p:nvPr>
            <p:ph idx="2" type="pic"/>
          </p:nvPr>
        </p:nvSpPr>
        <p:spPr>
          <a:xfrm>
            <a:off x="5353508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9"/>
          <p:cNvSpPr/>
          <p:nvPr>
            <p:ph idx="3" type="pic"/>
          </p:nvPr>
        </p:nvSpPr>
        <p:spPr>
          <a:xfrm>
            <a:off x="3115921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9"/>
          <p:cNvSpPr/>
          <p:nvPr>
            <p:ph idx="4" type="pic"/>
          </p:nvPr>
        </p:nvSpPr>
        <p:spPr>
          <a:xfrm>
            <a:off x="7602465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9"/>
          <p:cNvSpPr/>
          <p:nvPr>
            <p:ph idx="5" type="pic"/>
          </p:nvPr>
        </p:nvSpPr>
        <p:spPr>
          <a:xfrm>
            <a:off x="9840051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9"/>
          <p:cNvSpPr txBox="1"/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/>
          <p:nvPr/>
        </p:nvSpPr>
        <p:spPr>
          <a:xfrm>
            <a:off x="546669" y="3467555"/>
            <a:ext cx="458268" cy="39505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19"/>
          <p:cNvSpPr/>
          <p:nvPr/>
        </p:nvSpPr>
        <p:spPr>
          <a:xfrm>
            <a:off x="11113337" y="2394722"/>
            <a:ext cx="358391" cy="308958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19"/>
          <p:cNvSpPr/>
          <p:nvPr/>
        </p:nvSpPr>
        <p:spPr>
          <a:xfrm>
            <a:off x="10882649" y="2202202"/>
            <a:ext cx="230688" cy="19886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6" type="body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7" type="body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8" type="body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9" type="body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3" type="body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4" type="body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5" type="body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6" type="body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7" type="body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0" name="Google Shape;70;p19"/>
          <p:cNvSpPr/>
          <p:nvPr>
            <p:ph idx="18" type="pic"/>
          </p:nvPr>
        </p:nvSpPr>
        <p:spPr>
          <a:xfrm>
            <a:off x="878337" y="2555551"/>
            <a:ext cx="1484985" cy="12801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20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73" name="Google Shape;73;p20"/>
            <p:cNvSpPr/>
            <p:nvPr/>
          </p:nvSpPr>
          <p:spPr>
            <a:xfrm>
              <a:off x="0" y="-7862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196"/>
              </a:schemeClr>
            </a:solidFill>
            <a:ln>
              <a:noFill/>
            </a:ln>
          </p:spPr>
        </p:sp>
        <p:cxnSp>
          <p:nvCxnSpPr>
            <p:cNvPr id="74" name="Google Shape;74;p20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20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" name="Google Shape;76;p20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78"/>
              </a:schemeClr>
            </a:solidFill>
            <a:ln>
              <a:noFill/>
            </a:ln>
          </p:spPr>
        </p:sp>
        <p:sp>
          <p:nvSpPr>
            <p:cNvPr id="77" name="Google Shape;77;p20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78" name="Google Shape;78;p20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0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50196"/>
              </a:srgbClr>
            </a:solidFill>
            <a:ln>
              <a:noFill/>
            </a:ln>
          </p:spPr>
        </p:sp>
        <p:sp>
          <p:nvSpPr>
            <p:cNvPr id="80" name="Google Shape;80;p20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196"/>
              </a:schemeClr>
            </a:solidFill>
            <a:ln>
              <a:noFill/>
            </a:ln>
          </p:spPr>
        </p:sp>
        <p:sp>
          <p:nvSpPr>
            <p:cNvPr id="81" name="Google Shape;81;p20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82" name="Google Shape;82;p2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20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2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23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4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0" name="Google Shape;110;p24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1" name="Google Shape;111;p24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2" name="Google Shape;112;p24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8" name="Google Shape;128;p27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129" name="Google Shape;129;p2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8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8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6" name="Google Shape;136;p2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2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2" name="Google Shape;142;p2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0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8" name="Google Shape;148;p30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9" name="Google Shape;149;p3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30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pc="0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0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pc="0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1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7" name="Google Shape;157;p3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2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63" name="Google Shape;163;p32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4" name="Google Shape;164;p3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32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pc="0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pc="0" sz="8000" u="none" cap="none" strike="noStrik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3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2" name="Google Shape;172;p33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3" name="Google Shape;173;p3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4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9" name="Google Shape;179;p3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5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5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5" name="Google Shape;185;p3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 showMasterSp="0">
  <p:cSld name="1_Custom Layout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descr="Tall office building looking up" id="190" name="Google Shape;190;p36"/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cap="flat" cmpd="sng" w="60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36"/>
          <p:cNvSpPr txBox="1"/>
          <p:nvPr>
            <p:ph idx="1" type="body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92" name="Google Shape;192;p36"/>
          <p:cNvSpPr txBox="1"/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  <a:defRPr b="1"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15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15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7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15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78"/>
              </a:schemeClr>
            </a:solidFill>
            <a:ln>
              <a:noFill/>
            </a:ln>
          </p:spPr>
        </p:sp>
        <p:sp>
          <p:nvSpPr>
            <p:cNvPr id="14" name="Google Shape;14;p15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15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5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50196"/>
              </a:srgbClr>
            </a:solidFill>
            <a:ln>
              <a:noFill/>
            </a:ln>
          </p:spPr>
        </p:sp>
        <p:sp>
          <p:nvSpPr>
            <p:cNvPr id="17" name="Google Shape;17;p15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196"/>
              </a:schemeClr>
            </a:solidFill>
            <a:ln>
              <a:noFill/>
            </a:ln>
          </p:spPr>
        </p:sp>
        <p:sp>
          <p:nvSpPr>
            <p:cNvPr id="18" name="Google Shape;18;p15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9" name="Google Shape;19;p15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5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7019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1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pc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pc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pc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pc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pc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pc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pc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pc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pc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pc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5"/>
          <p:cNvSpPr txBox="1"/>
          <p:nvPr/>
        </p:nvSpPr>
        <p:spPr>
          <a:xfrm>
            <a:off x="660396" y="63789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9/2/2026</a:t>
            </a:r>
            <a:endParaRPr b="0" i="0" spc="0" sz="11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" name="Google Shape;27;p15"/>
          <p:cNvSpPr txBox="1"/>
          <p:nvPr/>
        </p:nvSpPr>
        <p:spPr>
          <a:xfrm>
            <a:off x="1445526" y="63789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Annual Review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5"/>
          <p:cNvSpPr txBox="1"/>
          <p:nvPr/>
        </p:nvSpPr>
        <p:spPr>
          <a:xfrm>
            <a:off x="8805338" y="63789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pc="0" sz="1100" u="none" cap="none" strike="noStrik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pc="0" sz="11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hyperlink" Target="https://colab.research.google.com/drive/18ROOwN9EsDG8xVDD-x3q3lzFnzZSV7Iw?usp=sharing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hyperlink" Target="https://github.com/Shruti-Halle/Doctor-Visits-Analytic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linkedin.com/in/shruti-halle/" TargetMode="External"/><Relationship Id="rId4" Type="http://schemas.openxmlformats.org/officeDocument/2006/relationships/hyperlink" Target="https://github.com/Shruti-Halle/Doctor-Visits-Analytics" TargetMode="External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"/>
          <p:cNvSpPr txBox="1"/>
          <p:nvPr>
            <p:ph idx="1" type="body"/>
          </p:nvPr>
        </p:nvSpPr>
        <p:spPr>
          <a:xfrm>
            <a:off x="555000" y="3825525"/>
            <a:ext cx="103893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80"/>
              <a:buNone/>
            </a:pPr>
            <a:r>
              <a:rPr lang="en-US" sz="25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Student Name :</a:t>
            </a:r>
            <a:r>
              <a:rPr b="0" lang="en-US" sz="2550">
                <a:solidFill>
                  <a:schemeClr val="dk1"/>
                </a:solidFill>
              </a:rPr>
              <a:t> </a:t>
            </a:r>
            <a:r>
              <a:rPr b="0" lang="en-US" sz="25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Shruti Mallikarjun Halle</a:t>
            </a:r>
            <a:endParaRPr b="0" sz="25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80"/>
              <a:buNone/>
            </a:pPr>
            <a:r>
              <a:rPr lang="en-US" sz="25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College Name :</a:t>
            </a:r>
            <a:r>
              <a:rPr b="0" lang="en-US" sz="2550">
                <a:solidFill>
                  <a:schemeClr val="dk1"/>
                </a:solidFill>
              </a:rPr>
              <a:t> </a:t>
            </a:r>
            <a:r>
              <a:rPr b="0" lang="en-US" sz="25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SNDT Arts and Commerce College For Women Pune</a:t>
            </a:r>
            <a:endParaRPr b="0" sz="25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8" name="Google Shape;198;p1"/>
          <p:cNvSpPr txBox="1"/>
          <p:nvPr>
            <p:ph type="title"/>
          </p:nvPr>
        </p:nvSpPr>
        <p:spPr>
          <a:xfrm>
            <a:off x="641350" y="2543700"/>
            <a:ext cx="95967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b="1" lang="en-US" sz="3200">
                <a:latin typeface="Georgia"/>
                <a:ea typeface="Georgia"/>
                <a:cs typeface="Georgia"/>
                <a:sym typeface="Georgia"/>
              </a:rPr>
              <a:t>Project Title -</a:t>
            </a:r>
            <a:r>
              <a:rPr b="1" lang="en-US" sz="3200">
                <a:latin typeface="Georgia"/>
                <a:ea typeface="Georgia"/>
                <a:cs typeface="Georgia"/>
                <a:sym typeface="Georgia"/>
              </a:rPr>
              <a:t>Doctor Visits Analytics </a:t>
            </a:r>
            <a:endParaRPr b="1" sz="32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9" name="Google Shape;199;p1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"/>
          <p:cNvSpPr txBox="1"/>
          <p:nvPr/>
        </p:nvSpPr>
        <p:spPr>
          <a:xfrm>
            <a:off x="555000" y="4865125"/>
            <a:ext cx="886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pc="0" sz="23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AICTE STU ID : </a:t>
            </a:r>
            <a:r>
              <a:rPr b="1" i="0" lang="en-US" spc="0" sz="2500" u="none" cap="none" strike="noStrike">
                <a:solidFill>
                  <a:srgbClr val="020617"/>
                </a:solidFill>
                <a:highlight>
                  <a:srgbClr val="FFFFFF"/>
                </a:highlight>
                <a:latin typeface="Be Vietnam Pro"/>
                <a:ea typeface="Be Vietnam Pro"/>
                <a:cs typeface="Be Vietnam Pro"/>
                <a:sym typeface="Be Vietnam Pro"/>
              </a:rPr>
              <a:t>STU676d48447d8341735215172</a:t>
            </a:r>
            <a:r>
              <a:rPr b="0" i="0" lang="en-US" spc="0" sz="27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endParaRPr b="0" i="0" spc="0" sz="3900" u="none" cap="none" strike="noStrike">
              <a:solidFill>
                <a:srgbClr val="000000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"/>
          <p:cNvSpPr txBox="1"/>
          <p:nvPr>
            <p:ph idx="1" type="body"/>
          </p:nvPr>
        </p:nvSpPr>
        <p:spPr>
          <a:xfrm>
            <a:off x="0" y="1419300"/>
            <a:ext cx="9473700" cy="4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30">
                <a:latin typeface="Georgia"/>
                <a:ea typeface="Georgia"/>
                <a:cs typeface="Georgia"/>
                <a:sym typeface="Georgia"/>
              </a:rPr>
              <a:t>Hospitals and health planners need to understand why some people visit doctors more often than others, but raw survey data does not show the patterns clearly.</a:t>
            </a:r>
            <a:endParaRPr sz="2230">
              <a:latin typeface="Georgia"/>
              <a:ea typeface="Georgia"/>
              <a:cs typeface="Georgia"/>
              <a:sym typeface="Georgi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30">
              <a:latin typeface="Georgia"/>
              <a:ea typeface="Georgia"/>
              <a:cs typeface="Georgia"/>
              <a:sym typeface="Georgi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30">
                <a:latin typeface="Georgia"/>
                <a:ea typeface="Georgia"/>
                <a:cs typeface="Georgia"/>
                <a:sym typeface="Georgia"/>
              </a:rPr>
              <a:t>This project analyzes 5,190 survey records to find which factors (health condition, age, gender, income, insurance) are most related to the number of doctor visits.</a:t>
            </a:r>
            <a:endParaRPr sz="2230">
              <a:latin typeface="Georgia"/>
              <a:ea typeface="Georgia"/>
              <a:cs typeface="Georgia"/>
              <a:sym typeface="Georgi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223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6" name="Google Shape;206;p2"/>
          <p:cNvSpPr txBox="1"/>
          <p:nvPr>
            <p:ph type="title"/>
          </p:nvPr>
        </p:nvSpPr>
        <p:spPr>
          <a:xfrm>
            <a:off x="252800" y="421350"/>
            <a:ext cx="80337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PROBLEM  STATEMENT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07" name="Google Shape;20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0409" y="2826834"/>
            <a:ext cx="2760759" cy="326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"/>
          <p:cNvPicPr preferRelativeResize="0"/>
          <p:nvPr/>
        </p:nvPicPr>
        <p:blipFill rotWithShape="1">
          <a:blip r:embed="rId4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"/>
          <p:cNvSpPr txBox="1"/>
          <p:nvPr>
            <p:ph type="title"/>
          </p:nvPr>
        </p:nvSpPr>
        <p:spPr>
          <a:xfrm>
            <a:off x="467350" y="316950"/>
            <a:ext cx="7559100" cy="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43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Project Description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endParaRPr b="0" sz="1578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14" name="Google Shape;214;p3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"/>
          <p:cNvSpPr txBox="1"/>
          <p:nvPr/>
        </p:nvSpPr>
        <p:spPr>
          <a:xfrm>
            <a:off x="369150" y="1233450"/>
            <a:ext cx="10073400" cy="4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- Analyzed a health survey dataset of 5,190 people (doctor visits in the past 2 weeks)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- Cleaned the data: removed the index column, converted age and income to real units, checked for missing values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- Created age groups and a visited / not visited flag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- Explored distributions, group averages, correlations and insurance coverage using charts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- Built an interactive Looker Studio dashboard with gender and age group filters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Key findings: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- 80% of people had no doctor visit in the 2-week window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- Illness and chronic conditions drive visits the most (0.08 visits with no illness vs 0.81 with 5 illnesses)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- Women (0.36) and older people (60+: 0.43) visit more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78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rPr>
              <a:t>- Income and private insurance make very little difference</a:t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78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"/>
          <p:cNvSpPr txBox="1"/>
          <p:nvPr>
            <p:ph idx="1" type="body"/>
          </p:nvPr>
        </p:nvSpPr>
        <p:spPr>
          <a:xfrm>
            <a:off x="647709" y="1679260"/>
            <a:ext cx="7904400" cy="3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50">
                <a:latin typeface="Georgia"/>
                <a:ea typeface="Georgia"/>
                <a:cs typeface="Georgia"/>
                <a:sym typeface="Georgia"/>
              </a:rPr>
              <a:t>- Hospital and clinic administrators: plan staffing and appointment capacity</a:t>
            </a:r>
            <a:endParaRPr sz="25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50">
                <a:latin typeface="Georgia"/>
                <a:ea typeface="Georgia"/>
                <a:cs typeface="Georgia"/>
                <a:sym typeface="Georgia"/>
              </a:rPr>
              <a:t>- Public health officials and policymakers: identify groups with high or low healthcare use</a:t>
            </a:r>
            <a:endParaRPr sz="25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50">
                <a:latin typeface="Georgia"/>
                <a:ea typeface="Georgia"/>
                <a:cs typeface="Georgia"/>
                <a:sym typeface="Georgia"/>
              </a:rPr>
              <a:t>- Health insurance providers: understand utilization patterns</a:t>
            </a:r>
            <a:endParaRPr sz="25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50">
                <a:latin typeface="Georgia"/>
                <a:ea typeface="Georgia"/>
                <a:cs typeface="Georgia"/>
                <a:sym typeface="Georgia"/>
              </a:rPr>
              <a:t>- Healthcare analysts and researchers: use the insights for further study</a:t>
            </a:r>
            <a:endParaRPr sz="25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55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2" name="Google Shape;222;p4"/>
          <p:cNvSpPr txBox="1"/>
          <p:nvPr>
            <p:ph type="title"/>
          </p:nvPr>
        </p:nvSpPr>
        <p:spPr>
          <a:xfrm>
            <a:off x="620008" y="876617"/>
            <a:ext cx="10046070" cy="802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WHO ARE THE END USERS?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23" name="Google Shape;2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359" y="6176804"/>
            <a:ext cx="21812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59" y="6410461"/>
            <a:ext cx="3706253" cy="29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0800" y="3820160"/>
            <a:ext cx="1727200" cy="3010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 txBox="1"/>
          <p:nvPr>
            <p:ph idx="1" type="body"/>
          </p:nvPr>
        </p:nvSpPr>
        <p:spPr>
          <a:xfrm>
            <a:off x="1391350" y="1432550"/>
            <a:ext cx="8027100" cy="3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- Python: Pandas, NumPy for data cleaning and analysis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- Matplotlib, Seaborn for data visualization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- Jupyter Notebook for analysis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- Looker Studio for the interactive dashboard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- GitHub for version control and sharing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58824"/>
              <a:buNone/>
            </a:pPr>
            <a:r>
              <a:t/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2" name="Google Shape;232;p5"/>
          <p:cNvSpPr txBox="1"/>
          <p:nvPr>
            <p:ph type="title"/>
          </p:nvPr>
        </p:nvSpPr>
        <p:spPr>
          <a:xfrm>
            <a:off x="660399" y="430567"/>
            <a:ext cx="5306291" cy="847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Technology Used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6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0" y="6550301"/>
            <a:ext cx="2143126" cy="19541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"/>
          <p:cNvSpPr txBox="1"/>
          <p:nvPr>
            <p:ph type="title"/>
          </p:nvPr>
        </p:nvSpPr>
        <p:spPr>
          <a:xfrm>
            <a:off x="682900" y="90150"/>
            <a:ext cx="2981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RESULTS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320975" y="1289937"/>
            <a:ext cx="33435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5590915" y="1797899"/>
            <a:ext cx="33435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41" name="Google Shape;24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975" y="800100"/>
            <a:ext cx="5163300" cy="575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0925" y="865387"/>
            <a:ext cx="6057900" cy="56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7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419257" y="62780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7"/>
          <p:cNvSpPr txBox="1"/>
          <p:nvPr>
            <p:ph type="title"/>
          </p:nvPr>
        </p:nvSpPr>
        <p:spPr>
          <a:xfrm>
            <a:off x="855195" y="-11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RESULTS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64282" y="10814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0" name="Google Shape;250;p7"/>
          <p:cNvSpPr txBox="1"/>
          <p:nvPr>
            <p:ph idx="1" type="body"/>
          </p:nvPr>
        </p:nvSpPr>
        <p:spPr>
          <a:xfrm>
            <a:off x="855200" y="6041125"/>
            <a:ext cx="7825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80"/>
              <a:buNone/>
            </a:pPr>
            <a:r>
              <a:rPr lang="en-US" sz="15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4"/>
              </a:rPr>
              <a:t>https://colab.research.google.com/drive/18ROOwN9EsDG8xVDD-x3q3lzFnzZSV7Iw?usp=sharing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51" name="Google Shape;251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250" y="666750"/>
            <a:ext cx="5219700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3975" y="666752"/>
            <a:ext cx="5810250" cy="504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8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8"/>
          <p:cNvSpPr txBox="1"/>
          <p:nvPr>
            <p:ph type="title"/>
          </p:nvPr>
        </p:nvSpPr>
        <p:spPr>
          <a:xfrm>
            <a:off x="166132" y="70589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RESULTS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8050632" y="1201571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1" name="Google Shape;26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000" y="1011350"/>
            <a:ext cx="5430474" cy="519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8850" y="1011350"/>
            <a:ext cx="5203875" cy="530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9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9"/>
          <p:cNvSpPr txBox="1"/>
          <p:nvPr>
            <p:ph type="title"/>
          </p:nvPr>
        </p:nvSpPr>
        <p:spPr>
          <a:xfrm>
            <a:off x="214932" y="106364"/>
            <a:ext cx="298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RESULTS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8067082" y="1012246"/>
            <a:ext cx="3343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1" name="Google Shape;27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00" y="800100"/>
            <a:ext cx="6439222" cy="553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8925" y="800100"/>
            <a:ext cx="4939800" cy="541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10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"/>
          <p:cNvSpPr txBox="1"/>
          <p:nvPr>
            <p:ph type="title"/>
          </p:nvPr>
        </p:nvSpPr>
        <p:spPr>
          <a:xfrm>
            <a:off x="675957" y="370589"/>
            <a:ext cx="29816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RESULTS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79" name="Google Shape;27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563" y="997325"/>
            <a:ext cx="6962775" cy="566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3850" y="800103"/>
            <a:ext cx="4610851" cy="586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11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1"/>
          <p:cNvSpPr txBox="1"/>
          <p:nvPr>
            <p:ph type="title"/>
          </p:nvPr>
        </p:nvSpPr>
        <p:spPr>
          <a:xfrm>
            <a:off x="675957" y="370589"/>
            <a:ext cx="473579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</a:pPr>
            <a:r>
              <a:rPr lang="en-US" sz="4000">
                <a:latin typeface="Georgia"/>
                <a:ea typeface="Georgia"/>
                <a:cs typeface="Georgia"/>
                <a:sym typeface="Georgia"/>
              </a:rPr>
              <a:t>Future scope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675950" y="1517000"/>
            <a:ext cx="8223900" cy="4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 Add predictive modeling (e.g., classification) to predict who is likely to visit a doctor</a:t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 Use more recent and larger datasets to check whether the patterns still hold today</a:t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 Add more dashboard pages, such as insurance coverage analysis and income-level comparisons</a:t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 Add region and time-based data to track trends over a full year, not just 2 weeks</a:t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 Include more detailed health data (e.g., specific conditions, lifestyle factors) for deeper insights</a:t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 Automate the data pipeline so the dashboard updates with new data</a:t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sz="2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8" name="Google Shape;288;p11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t/>
            </a:r>
            <a:endParaRPr b="0" i="0" spc="0" sz="2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12"/>
          <p:cNvPicPr preferRelativeResize="0"/>
          <p:nvPr/>
        </p:nvPicPr>
        <p:blipFill rotWithShape="1">
          <a:blip r:embed="rId3">
            <a:alphaModFix/>
          </a:blip>
          <a:srcRect b="0" l="0" r="0" t="96181"/>
          <a:stretch/>
        </p:blipFill>
        <p:spPr>
          <a:xfrm>
            <a:off x="744632" y="7652122"/>
            <a:ext cx="2557675" cy="23038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2"/>
          <p:cNvSpPr txBox="1"/>
          <p:nvPr>
            <p:ph type="title"/>
          </p:nvPr>
        </p:nvSpPr>
        <p:spPr>
          <a:xfrm>
            <a:off x="744632" y="370602"/>
            <a:ext cx="56520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4550" lIns="109100" spcFirstLastPara="1" rIns="109100" wrap="square" tIns="545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74"/>
              <a:buFont typeface="Trebuchet MS"/>
              <a:buNone/>
            </a:pPr>
            <a:r>
              <a:rPr lang="en-US" sz="4774">
                <a:latin typeface="Georgia"/>
                <a:ea typeface="Georgia"/>
                <a:cs typeface="Georgia"/>
                <a:sym typeface="Georgia"/>
              </a:rPr>
              <a:t>GitHub Link</a:t>
            </a:r>
            <a:endParaRPr sz="5728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5" name="Google Shape;295;p12"/>
          <p:cNvSpPr txBox="1"/>
          <p:nvPr/>
        </p:nvSpPr>
        <p:spPr>
          <a:xfrm>
            <a:off x="414950" y="2247898"/>
            <a:ext cx="9240000" cy="1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4550" lIns="109100" spcFirstLastPara="1" rIns="109100" wrap="square" tIns="545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9"/>
              <a:buFont typeface="Noto Sans Symbols"/>
              <a:buNone/>
            </a:pPr>
            <a:r>
              <a:rPr lang="en-US" sz="3487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https://github.com/Shruti-Halle/Doctor-Visits-Analytics</a:t>
            </a:r>
            <a:endParaRPr b="0" i="0" spc="0" sz="3487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/>
          <p:nvPr>
            <p:ph type="title"/>
          </p:nvPr>
        </p:nvSpPr>
        <p:spPr>
          <a:xfrm>
            <a:off x="878325" y="614500"/>
            <a:ext cx="9163500" cy="26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20"/>
              <a:buFont typeface="Trebuchet MS"/>
              <a:buNone/>
            </a:pPr>
            <a:r>
              <a:rPr b="1" lang="en-US" sz="812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704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1" name="Google Shape;301;p14"/>
          <p:cNvSpPr txBox="1"/>
          <p:nvPr>
            <p:ph idx="8" type="body"/>
          </p:nvPr>
        </p:nvSpPr>
        <p:spPr>
          <a:xfrm>
            <a:off x="878300" y="4641925"/>
            <a:ext cx="4989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https://www.linkedin.com/in/shruti-halle/</a:t>
            </a:r>
            <a:endParaRPr/>
          </a:p>
        </p:txBody>
      </p:sp>
      <p:sp>
        <p:nvSpPr>
          <p:cNvPr id="302" name="Google Shape;302;p14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None/>
            </a:pPr>
            <a:r>
              <a:t/>
            </a:r>
            <a:endParaRPr b="1" i="0" spc="0" sz="2400" u="none" cap="none" strike="noStrike">
              <a:solidFill>
                <a:schemeClr val="accent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>
            <a:off x="1129150" y="3806975"/>
            <a:ext cx="76614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72"/>
              <a:buFont typeface="Noto Sans Symbols"/>
              <a:buNone/>
            </a:pPr>
            <a:r>
              <a:rPr b="1" i="0" lang="en-US" spc="0" sz="2915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Shruti Halle | shrutihalle2@gmail.com</a:t>
            </a:r>
            <a:endParaRPr b="1" i="0" spc="0" sz="2915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4" name="Google Shape;304;p14"/>
          <p:cNvSpPr txBox="1"/>
          <p:nvPr/>
        </p:nvSpPr>
        <p:spPr>
          <a:xfrm>
            <a:off x="1129150" y="5149050"/>
            <a:ext cx="75723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lang="en-US" sz="16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https://github.com/Shruti-Halle/Doctor-Visits-Analytics</a:t>
            </a:r>
            <a:endParaRPr b="0" i="0" spc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5" name="Google Shape;305;p14"/>
          <p:cNvPicPr preferRelativeResize="0"/>
          <p:nvPr/>
        </p:nvPicPr>
        <p:blipFill rotWithShape="1">
          <a:blip r:embed="rId5">
            <a:alphaModFix/>
          </a:blip>
          <a:srcRect b="0" l="0" r="0"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